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3581400" y="1917655"/>
            <a:ext cx="5029200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4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&lt;Team Name&gt;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pPr algn="ctr"/>
            <a:r>
              <a:rPr sz="1800">
                <a:solidFill>
                  <a:srgbClr val="12233D"/>
                </a:solidFill>
              </a:rPr>
              <a:t>&lt;College&gt;</a:t>
            </a:r>
          </a:p>
          <a:p>
            <a:pPr algn="ctr"/>
            <a:r>
              <a:rPr sz="1800">
                <a:solidFill>
                  <a:srgbClr val="12233D"/>
                </a:solidFill>
              </a:rPr>
              <a:t>&lt;Member 1&gt; · &lt;Member 2&gt; · &lt;Member 3&gt;</a:t>
            </a:r>
          </a:p>
          <a:p>
            <a:pPr algn="ctr"/>
            <a:r>
              <a:rPr sz="1800">
                <a:solidFill>
                  <a:srgbClr val="12233D"/>
                </a:solidFill>
              </a:rPr>
              <a:t>LabelTwin: Label-as-Code for medical device labeling</a:t>
            </a:r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95728" y="91440"/>
            <a:ext cx="8732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150"/>
              </a:spcAft>
            </a:pPr>
            <a:r>
              <a:rPr sz="2200" b="1">
                <a:solidFill>
                  <a:srgbClr val="0B5CAD"/>
                </a:solidFill>
                <a:latin typeface="Calibri"/>
              </a:rPr>
              <a:t>LabelTwin</a:t>
            </a:r>
            <a:r>
              <a:rPr sz="1700" b="1">
                <a:solidFill>
                  <a:srgbClr val="12233D"/>
                </a:solidFill>
                <a:latin typeface="Calibri"/>
              </a:rPr>
              <a:t>: Label-as-Code for self-validating, traceable medical device labels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556070"/>
                </a:solidFill>
                <a:latin typeface="Calibri"/>
              </a:rPr>
              <a:t>Case Study 4 · HLS · End-to-End Labeling Automation Management   |   Team </a:t>
            </a:r>
            <a:r>
              <a:rPr sz="1050" b="1">
                <a:solidFill>
                  <a:srgbClr val="556070"/>
                </a:solidFill>
                <a:latin typeface="Calibri"/>
              </a:rPr>
              <a:t>&lt;Team Name&gt;</a:t>
            </a:r>
            <a:r>
              <a:rPr sz="1050" b="0">
                <a:solidFill>
                  <a:srgbClr val="556070"/>
                </a:solidFill>
                <a:latin typeface="Calibri"/>
              </a:rPr>
              <a:t> · &lt;College&gt;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96112"/>
            <a:ext cx="3794760" cy="148132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0B5CAD"/>
                </a:solidFill>
                <a:latin typeface="Calibri"/>
              </a:rPr>
              <a:t>The real problem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1 product change → 30+ labels × 20+ languages × packaging levels, re-verified by eye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Values are copied across PLM, ERP, RIM &amp; artwork, so errors are born at every hand-off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Rules keep moving: ISO 20417:2026, ISO 15223-1 Amd 1:2025, FDA QMSR (Feb 2026), EUDAMED mandatory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896112"/>
            <a:ext cx="3794760" cy="1481328"/>
          </a:xfrm>
          <a:prstGeom prst="roundRect">
            <a:avLst>
              <a:gd name="adj" fmla="val 6000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E68A00"/>
                </a:solidFill>
                <a:latin typeface="Calibri"/>
              </a:rPr>
              <a:t>Our reframe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2233D"/>
                </a:solidFill>
                <a:latin typeface="Calibri"/>
              </a:rPr>
              <a:t>“Labeling is a data-consistency problem disguised as a document problem.”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22B38"/>
                </a:solidFill>
                <a:latin typeface="Calibri"/>
              </a:rPr>
              <a:t>Every label becomes a computed, self-proving view of </a:t>
            </a:r>
            <a:r>
              <a:rPr sz="1050" b="1">
                <a:solidFill>
                  <a:srgbClr val="222B38"/>
                </a:solidFill>
                <a:latin typeface="Calibri"/>
              </a:rPr>
              <a:t>product data × market rules × language × packaging level</a:t>
            </a:r>
            <a:r>
              <a:rPr sz="1050" b="0">
                <a:solidFill>
                  <a:srgbClr val="222B38"/>
                </a:solidFill>
                <a:latin typeface="Calibri"/>
              </a:rPr>
              <a:t>. We make most errors structurally impossible, then let AI catch the 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896112"/>
            <a:ext cx="3813048" cy="148132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0B5CAD"/>
                </a:solidFill>
                <a:latin typeface="Calibri"/>
              </a:rPr>
              <a:t>Design principles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Deterministic core; GenAI &amp; vision only at the unstructured edges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1">
                <a:solidFill>
                  <a:srgbClr val="222B38"/>
                </a:solidFill>
                <a:latin typeface="Calibri"/>
              </a:rPr>
              <a:t>AI may add findings, never clear them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Every element carries provenance + regulatory citation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Humans decide at 3 e-signed gates (Part 11-style audit)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Plugs into existing PLM / ERP / LMS: no rip-and-replace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12233D"/>
                </a:solidFill>
                <a:latin typeface="Calibri"/>
              </a:rPr>
              <a:t>Architecture: agents propose, gates &amp; humans dispose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816351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Sources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PLM · ERP/SAP · RIM · Risk file &amp; IFU · legacy artwork · FDA / EUR-Lex / MDCG / ISO feeds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929384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21408" y="2816351"/>
            <a:ext cx="1874519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Knowledge layer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Product golden record · Regulatory knowledge graph · Rule packs (Compliance-as-Code) · ISO 15223-1 symbol ontology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5072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97096" y="2816351"/>
            <a:ext cx="1572768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Label Digital Twins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Every element bound to source field + rule + hazard (ISO 14971)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9007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71031" y="2816351"/>
            <a:ext cx="2542032" cy="1188720"/>
          </a:xfrm>
          <a:prstGeom prst="roundRect">
            <a:avLst>
              <a:gd name="adj" fmla="val 6000"/>
            </a:avLst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 AI engines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① Reg Watcher   ② Change Impact (graph)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③ GenAI Composer (RAG, cited)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④ Compliance Checker (rules + LLM)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⑤ Vision Verifier (OCR · symbols · GS1)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⑥ Translation QA   ⑦ Risk Predictor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22207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14232" y="2816351"/>
            <a:ext cx="1591056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Governance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Workflow state machine · e-signature · hash-chained audit · traceability matrix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314432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06456" y="2816351"/>
            <a:ext cx="1481328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Outputs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PRISYM / Loftware / Kallik · GUDID &amp; EUDAMED · change order · line scan-to-verify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133087"/>
            <a:ext cx="5989320" cy="199339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0B5CAD"/>
                </a:solidFill>
                <a:latin typeface="Calibri"/>
              </a:rPr>
              <a:t>What makes it different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1  Label Digital Twin: </a:t>
            </a:r>
            <a:r>
              <a:rPr sz="1050" b="0">
                <a:solidFill>
                  <a:srgbClr val="222B38"/>
                </a:solidFill>
                <a:latin typeface="Calibri"/>
              </a:rPr>
              <a:t>each element knows its data source, the clause requiring it (e.g. EU MDR Annex I §23.2(h) UDI) and the hazard it controls, so one click answers “Why is this here?”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2  Compliance-as-Code: </a:t>
            </a:r>
            <a:r>
              <a:rPr sz="1050" b="0">
                <a:solidFill>
                  <a:srgbClr val="222B38"/>
                </a:solidFill>
                <a:latin typeface="Calibri"/>
              </a:rPr>
              <a:t>versioned, unit-tested rule packs (MDR §23, 21 CFR 801.18 / 801.20 / 801.109, GS1 UDI, ISO 15223-1 symbols) with effective dates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3  Graph change-impact: </a:t>
            </a:r>
            <a:r>
              <a:rPr sz="1050" b="0">
                <a:solidFill>
                  <a:srgbClr val="222B38"/>
                </a:solidFill>
                <a:latin typeface="Calibri"/>
              </a:rPr>
              <a:t>a PLM or regulation change instantly yields impacted labels, markets, actions and a draft change order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4  Vision + GS1 verification: </a:t>
            </a:r>
            <a:r>
              <a:rPr sz="1050" b="0">
                <a:solidFill>
                  <a:srgbClr val="222B38"/>
                </a:solidFill>
                <a:latin typeface="Calibri"/>
              </a:rPr>
              <a:t>auto-redline of artwork &amp; print; DataMatrix AI(17)/(10) ↔ printed expiry/lot cross-check; translation invariants (37 °C never becomes 73 °C)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4133087"/>
            <a:ext cx="5532120" cy="1993392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1E8E5A"/>
                </a:solidFill>
                <a:latin typeface="Calibri"/>
              </a:rPr>
              <a:t>How we will prove it: LabelBench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60 label twins · 5 markets (US, EU-DE, EU-FR, UK, CH) · 3 packaging levels; fictitious devices with GUDID-realistic attributes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20+ defect types mined from FDA labeling-recall root causes, seeded with ground truth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Ablation: rules-only vs LLM-only vs hybrid · timed user study vs manual checklist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Trust built in: e-sign with meaning, hash-chained audit, risk-based tool validation (CSA)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Targets: </a:t>
            </a:r>
            <a:r>
              <a:rPr sz="1050" b="1">
                <a:solidFill>
                  <a:srgbClr val="222B38"/>
                </a:solidFill>
                <a:latin typeface="Calibri"/>
              </a:rPr>
              <a:t>≥95% recall on critical defects · change-impact days → minutes · ≥70% of repetitive checks automated · 100% element traceability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6217920"/>
            <a:ext cx="11640312" cy="53035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150"/>
              </a:spcAft>
            </a:pPr>
            <a:r>
              <a:rPr sz="950" b="1">
                <a:solidFill>
                  <a:srgbClr val="12233D"/>
                </a:solidFill>
                <a:latin typeface="Calibri"/>
              </a:rPr>
              <a:t>Prototype stack: </a:t>
            </a:r>
            <a:r>
              <a:rPr sz="950" b="0">
                <a:solidFill>
                  <a:srgbClr val="222B38"/>
                </a:solidFill>
                <a:latin typeface="Calibri"/>
              </a:rPr>
              <a:t>FastAPI · Neo4j · YAML rule engine · PyMuPDF + PaddleOCR + OpenCV · zxing-cpp + GS1 parser · local LLM (Ollama) + bge-m3 RAG · React</a:t>
            </a:r>
          </a:p>
          <a:p>
            <a:pPr algn="l">
              <a:spcAft>
                <a:spcPts val="150"/>
              </a:spcAft>
            </a:pPr>
            <a:r>
              <a:rPr sz="950" b="1">
                <a:solidFill>
                  <a:srgbClr val="12233D"/>
                </a:solidFill>
                <a:latin typeface="Calibri"/>
              </a:rPr>
              <a:t>Fit for Tata Elxsi: </a:t>
            </a:r>
            <a:r>
              <a:rPr sz="950" b="0">
                <a:solidFill>
                  <a:srgbClr val="222B38"/>
                </a:solidFill>
                <a:latin typeface="Calibri"/>
              </a:rPr>
              <a:t>a tool-agnostic accelerator layered on the LMS/PLM stacks TE already implements for medtech clients, in line with the HLS “AI-first, regulatory-aware” direction. Data stays on-prem with a local LLM.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