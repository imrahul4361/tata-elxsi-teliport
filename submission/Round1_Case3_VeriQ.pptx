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sldIdLst>
    <p:sldId id="260" r:id="rId3"/>
    <p:sldId id="261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88" d="100"/>
          <a:sy n="88" d="100"/>
        </p:scale>
        <p:origin x="213" y="5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03228-4751-4F53-A7F7-9080AFB031F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9C2CE-49C7-403A-A106-CE2A83A98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79300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03228-4751-4F53-A7F7-9080AFB031F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9C2CE-49C7-403A-A106-CE2A83A98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82285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03228-4751-4F53-A7F7-9080AFB031F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9C2CE-49C7-403A-A106-CE2A83A98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15101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03228-4751-4F53-A7F7-9080AFB031F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9C2CE-49C7-403A-A106-CE2A83A98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08147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03228-4751-4F53-A7F7-9080AFB031F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9C2CE-49C7-403A-A106-CE2A83A98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18803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03228-4751-4F53-A7F7-9080AFB031F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9C2CE-49C7-403A-A106-CE2A83A98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74319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03228-4751-4F53-A7F7-9080AFB031F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9C2CE-49C7-403A-A106-CE2A83A98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97443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03228-4751-4F53-A7F7-9080AFB031F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9C2CE-49C7-403A-A106-CE2A83A98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0817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03228-4751-4F53-A7F7-9080AFB031F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9C2CE-49C7-403A-A106-CE2A83A98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79286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03228-4751-4F53-A7F7-9080AFB031F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9C2CE-49C7-403A-A106-CE2A83A98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78662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03228-4751-4F53-A7F7-9080AFB031F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9C2CE-49C7-403A-A106-CE2A83A98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735466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0D68-FF19-4C40-B203-FF6228C5C20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B0BD9-A53D-48D3-BB72-10255F89A5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045820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0D68-FF19-4C40-B203-FF6228C5C20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B0BD9-A53D-48D3-BB72-10255F89A5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63403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0D68-FF19-4C40-B203-FF6228C5C20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B0BD9-A53D-48D3-BB72-10255F89A5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980808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0D68-FF19-4C40-B203-FF6228C5C20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B0BD9-A53D-48D3-BB72-10255F89A5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325833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0D68-FF19-4C40-B203-FF6228C5C20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B0BD9-A53D-48D3-BB72-10255F89A5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519716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0D68-FF19-4C40-B203-FF6228C5C20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B0BD9-A53D-48D3-BB72-10255F89A5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382764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0D68-FF19-4C40-B203-FF6228C5C20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B0BD9-A53D-48D3-BB72-10255F89A5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818769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0D68-FF19-4C40-B203-FF6228C5C20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B0BD9-A53D-48D3-BB72-10255F89A5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723135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0D68-FF19-4C40-B203-FF6228C5C20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B0BD9-A53D-48D3-BB72-10255F89A5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26035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0D68-FF19-4C40-B203-FF6228C5C20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B0BD9-A53D-48D3-BB72-10255F89A5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376204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0D68-FF19-4C40-B203-FF6228C5C20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B0BD9-A53D-48D3-BB72-10255F89A5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674540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9B03228-4751-4F53-A7F7-9080AFB031F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4D9C2CE-49C7-403A-A106-CE2A83A98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45725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7E30D68-FF19-4C40-B203-FF6228C5C20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50B0BD9-A53D-48D3-BB72-10255F89A5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70066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19E0110-3D53-56A3-B428-F22C9DFF80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6C273218-B2DB-AB44-5DFE-A9CB98F2A8B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"/>
          <a:stretch>
            <a:fillRect/>
          </a:stretch>
        </p:blipFill>
        <p:spPr>
          <a:xfrm>
            <a:off x="20" y="0"/>
            <a:ext cx="12191980" cy="6856718"/>
          </a:xfrm>
          <a:prstGeom prst="rect">
            <a:avLst/>
          </a:prstGeom>
        </p:spPr>
      </p:pic>
      <p:pic>
        <p:nvPicPr>
          <p:cNvPr id="14" name="Content Placeholder 6">
            <a:extLst>
              <a:ext uri="{FF2B5EF4-FFF2-40B4-BE49-F238E27FC236}">
                <a16:creationId xmlns:a16="http://schemas.microsoft.com/office/drawing/2014/main" id="{DAC1E459-A0ED-D730-5E34-2662D85A746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346" b="34336"/>
          <a:stretch>
            <a:fillRect/>
          </a:stretch>
        </p:blipFill>
        <p:spPr>
          <a:xfrm>
            <a:off x="4504438" y="723899"/>
            <a:ext cx="3183124" cy="1028701"/>
          </a:xfrm>
          <a:prstGeom prst="rect">
            <a:avLst/>
          </a:prstGeom>
        </p:spPr>
      </p:pic>
      <p:sp>
        <p:nvSpPr>
          <p:cNvPr id="16" name="Title 1">
            <a:extLst>
              <a:ext uri="{FF2B5EF4-FFF2-40B4-BE49-F238E27FC236}">
                <a16:creationId xmlns:a16="http://schemas.microsoft.com/office/drawing/2014/main" id="{51E1DA9C-07E8-A7EE-F0F0-74A842D8366D}"/>
              </a:ext>
            </a:extLst>
          </p:cNvPr>
          <p:cNvSpPr txBox="1">
            <a:spLocks/>
          </p:cNvSpPr>
          <p:nvPr/>
        </p:nvSpPr>
        <p:spPr>
          <a:xfrm>
            <a:off x="3581400" y="1917655"/>
            <a:ext cx="5029200" cy="60602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Case Study No. 3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547F9FFC-5CA4-1C83-5E38-8DBBC6652E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980112" y="2912065"/>
            <a:ext cx="6231775" cy="760059"/>
          </a:xfrm>
        </p:spPr>
        <p:txBody>
          <a:bodyPr>
            <a:noAutofit/>
          </a:bodyPr>
          <a:lstStyle/>
          <a:p>
            <a:r>
              <a:rPr lang="en-US" sz="4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Team &lt;Team Name&gt;</a:t>
            </a:r>
          </a:p>
        </p:txBody>
      </p:sp>
      <p:sp>
        <p:nvSpPr>
          <p:cNvPr id="19" name="Subtitle 2">
            <a:extLst>
              <a:ext uri="{FF2B5EF4-FFF2-40B4-BE49-F238E27FC236}">
                <a16:creationId xmlns:a16="http://schemas.microsoft.com/office/drawing/2014/main" id="{BC4B1A3C-0B9F-3BDB-8C06-470AADE518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981627" y="3652835"/>
            <a:ext cx="6231775" cy="1128427"/>
          </a:xfrm>
        </p:spPr>
        <p:txBody>
          <a:bodyPr/>
          <a:lstStyle/>
          <a:p>
            <a:pPr algn="ctr"/>
            <a:r>
              <a:rPr sz="1800">
                <a:solidFill>
                  <a:srgbClr val="12233D"/>
                </a:solidFill>
              </a:rPr>
              <a:t>&lt;College&gt;</a:t>
            </a:r>
          </a:p>
          <a:p>
            <a:pPr algn="ctr"/>
            <a:r>
              <a:rPr sz="1800">
                <a:solidFill>
                  <a:srgbClr val="12233D"/>
                </a:solidFill>
              </a:rPr>
              <a:t>&lt;Member 1&gt; · &lt;Member 2&gt; · &lt;Member 3&gt;</a:t>
            </a:r>
          </a:p>
          <a:p>
            <a:pPr algn="ctr"/>
            <a:r>
              <a:rPr sz="1800">
                <a:solidFill>
                  <a:srgbClr val="12233D"/>
                </a:solidFill>
              </a:rPr>
              <a:t>VeriQ: adapts, measures, explains</a:t>
            </a:r>
          </a:p>
        </p:txBody>
      </p:sp>
    </p:spTree>
    <p:extLst>
      <p:ext uri="{BB962C8B-B14F-4D97-AF65-F5344CB8AC3E}">
        <p14:creationId xmlns:p14="http://schemas.microsoft.com/office/powerpoint/2010/main" val="40021824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2" descr="od-banner">
            <a:extLst>
              <a:ext uri="{FF2B5EF4-FFF2-40B4-BE49-F238E27FC236}">
                <a16:creationId xmlns:a16="http://schemas.microsoft.com/office/drawing/2014/main" id="{F4826D9E-742D-0A39-8864-4C7889B0DC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81341" y="89039"/>
            <a:ext cx="803547" cy="5673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727886EE-DB1A-217A-4691-1FAE55869FB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346" b="34336"/>
          <a:stretch>
            <a:fillRect/>
          </a:stretch>
        </p:blipFill>
        <p:spPr>
          <a:xfrm>
            <a:off x="0" y="14083"/>
            <a:ext cx="2361332" cy="7631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2395728" y="91440"/>
            <a:ext cx="8732520" cy="71323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l">
              <a:spcAft>
                <a:spcPts val="150"/>
              </a:spcAft>
            </a:pPr>
            <a:r>
              <a:rPr sz="2200" b="1">
                <a:solidFill>
                  <a:srgbClr val="0B5CAD"/>
                </a:solidFill>
                <a:latin typeface="Calibri"/>
              </a:rPr>
              <a:t>VeriQ</a:t>
            </a:r>
            <a:r>
              <a:rPr sz="1700" b="1">
                <a:solidFill>
                  <a:srgbClr val="12233D"/>
                </a:solidFill>
                <a:latin typeface="Calibri"/>
              </a:rPr>
              <a:t>: intent-aware home QoS with measurable outcomes &amp; explainable recovery</a:t>
            </a:r>
          </a:p>
          <a:p>
            <a:pPr algn="l">
              <a:spcAft>
                <a:spcPts val="150"/>
              </a:spcAft>
            </a:pPr>
            <a:r>
              <a:rPr sz="1050" b="0">
                <a:solidFill>
                  <a:srgbClr val="556070"/>
                </a:solidFill>
                <a:latin typeface="Calibri"/>
              </a:rPr>
              <a:t>Case Study 3 · MCV · Adaptive QoS Engine for Mixed Home Broadband Traffic   |   Team </a:t>
            </a:r>
            <a:r>
              <a:rPr sz="1050" b="1">
                <a:solidFill>
                  <a:srgbClr val="556070"/>
                </a:solidFill>
                <a:latin typeface="Calibri"/>
              </a:rPr>
              <a:t>&lt;Team Name&gt;</a:t>
            </a:r>
            <a:r>
              <a:rPr sz="1050" b="0">
                <a:solidFill>
                  <a:srgbClr val="556070"/>
                </a:solidFill>
                <a:latin typeface="Calibri"/>
              </a:rPr>
              <a:t> · &lt;College&gt;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896112"/>
            <a:ext cx="3794760" cy="1481328"/>
          </a:xfrm>
          <a:prstGeom prst="roundRect">
            <a:avLst>
              <a:gd name="adj" fmla="val 6000"/>
            </a:avLst>
          </a:prstGeom>
          <a:solidFill>
            <a:srgbClr val="EE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150"/>
              </a:spcAft>
            </a:pPr>
            <a:r>
              <a:rPr sz="1250" b="1">
                <a:solidFill>
                  <a:srgbClr val="0B5CAD"/>
                </a:solidFill>
                <a:latin typeface="Calibri"/>
              </a:rPr>
              <a:t>The real problem</a:t>
            </a:r>
          </a:p>
          <a:p>
            <a:pPr algn="l">
              <a:spcAft>
                <a:spcPts val="150"/>
              </a:spcAft>
            </a:pPr>
            <a:r>
              <a:rPr sz="1050" b="1">
                <a:solidFill>
                  <a:srgbClr val="0B5CAD"/>
                </a:solidFill>
                <a:latin typeface="Calibri"/>
              </a:rPr>
              <a:t>• </a:t>
            </a:r>
            <a:r>
              <a:rPr sz="1050" b="0">
                <a:solidFill>
                  <a:srgbClr val="222B38"/>
                </a:solidFill>
                <a:latin typeface="Calibri"/>
              </a:rPr>
              <a:t>Queues, not bandwidth: a backup upload filled the modem's oversized FIFO and added 266 ms (p95) in our Day-0 lab (emulated, 5 Mbit up); fq_codel alone can't reach that queue</a:t>
            </a:r>
          </a:p>
          <a:p>
            <a:pPr algn="l">
              <a:spcAft>
                <a:spcPts val="150"/>
              </a:spcAft>
            </a:pPr>
            <a:r>
              <a:rPr sz="1050" b="1">
                <a:solidFill>
                  <a:srgbClr val="0B5CAD"/>
                </a:solidFill>
                <a:latin typeface="Calibri"/>
              </a:rPr>
              <a:t>• </a:t>
            </a:r>
            <a:r>
              <a:rPr sz="1050" b="0">
                <a:solidFill>
                  <a:srgbClr val="222B38"/>
                </a:solidFill>
                <a:latin typeface="Calibri"/>
              </a:rPr>
              <a:t>QUIC/TLS on port 443 defeats port rules; apps rarely set DSCP</a:t>
            </a:r>
          </a:p>
          <a:p>
            <a:pPr algn="l">
              <a:spcAft>
                <a:spcPts val="150"/>
              </a:spcAft>
            </a:pPr>
            <a:r>
              <a:rPr sz="1050" b="1">
                <a:solidFill>
                  <a:srgbClr val="0B5CAD"/>
                </a:solidFill>
                <a:latin typeface="Calibri"/>
              </a:rPr>
              <a:t>• </a:t>
            </a:r>
            <a:r>
              <a:rPr sz="1050" b="0">
                <a:solidFill>
                  <a:srgbClr val="222B38"/>
                </a:solidFill>
                <a:latin typeface="Calibri"/>
              </a:rPr>
              <a:t>Capacity moves (DOCSIS, 5G FWA, Wi-Fi): a static shaper is bloated or wasteful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87952" y="896112"/>
            <a:ext cx="3794760" cy="1481328"/>
          </a:xfrm>
          <a:prstGeom prst="roundRect">
            <a:avLst>
              <a:gd name="adj" fmla="val 6000"/>
            </a:avLst>
          </a:prstGeom>
          <a:solidFill>
            <a:srgbClr val="FFF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150"/>
              </a:spcAft>
            </a:pPr>
            <a:r>
              <a:rPr sz="1250" b="1">
                <a:solidFill>
                  <a:srgbClr val="E68A00"/>
                </a:solidFill>
                <a:latin typeface="Calibri"/>
              </a:rPr>
              <a:t>Our idea</a:t>
            </a:r>
          </a:p>
          <a:p>
            <a:pPr algn="l">
              <a:spcAft>
                <a:spcPts val="150"/>
              </a:spcAft>
            </a:pPr>
            <a:r>
              <a:rPr sz="1100" b="1">
                <a:solidFill>
                  <a:srgbClr val="12233D"/>
                </a:solidFill>
                <a:latin typeface="Calibri"/>
              </a:rPr>
              <a:t>“VeriQ finds the cause, protects what you chose, and proves it.”</a:t>
            </a:r>
          </a:p>
          <a:p>
            <a:pPr algn="l">
              <a:spcAft>
                <a:spcPts val="150"/>
              </a:spcAft>
            </a:pPr>
            <a:r>
              <a:rPr sz="1050" b="1">
                <a:solidFill>
                  <a:srgbClr val="222B38"/>
                </a:solidFill>
                <a:latin typeface="Calibri"/>
              </a:rPr>
              <a:t>Localise the fault first</a:t>
            </a:r>
            <a:r>
              <a:rPr sz="1050" b="0">
                <a:solidFill>
                  <a:srgbClr val="222B38"/>
                </a:solidFill>
                <a:latin typeface="Calibri"/>
              </a:rPr>
              <a:t> (own queue, WAN drop, remote path, Wi-Fi, bad probe), then act with bounded fast guardrails. Every adaptation gets an </a:t>
            </a:r>
            <a:r>
              <a:rPr sz="1050" b="1">
                <a:solidFill>
                  <a:srgbClr val="222B38"/>
                </a:solidFill>
                <a:latin typeface="Calibri"/>
              </a:rPr>
              <a:t>experience receipt: improved / degraded / inconclusive</a:t>
            </a:r>
            <a:r>
              <a:rPr sz="1050" b="0">
                <a:solidFill>
                  <a:srgbClr val="222B38"/>
                </a:solidFill>
                <a:latin typeface="Calibri"/>
              </a:rPr>
              <a:t>, measured on real calls and video.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01583" y="896112"/>
            <a:ext cx="3813048" cy="1481328"/>
          </a:xfrm>
          <a:prstGeom prst="roundRect">
            <a:avLst>
              <a:gd name="adj" fmla="val 6000"/>
            </a:avLst>
          </a:prstGeom>
          <a:solidFill>
            <a:srgbClr val="EE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150"/>
              </a:spcAft>
            </a:pPr>
            <a:r>
              <a:rPr sz="1250" b="1">
                <a:solidFill>
                  <a:srgbClr val="0B5CAD"/>
                </a:solidFill>
                <a:latin typeface="Calibri"/>
              </a:rPr>
              <a:t>Bounded by design</a:t>
            </a:r>
          </a:p>
          <a:p>
            <a:pPr algn="l">
              <a:spcAft>
                <a:spcPts val="150"/>
              </a:spcAft>
            </a:pPr>
            <a:r>
              <a:rPr sz="1050" b="1">
                <a:solidFill>
                  <a:srgbClr val="0B5CAD"/>
                </a:solidFill>
                <a:latin typeface="Calibri"/>
              </a:rPr>
              <a:t>• </a:t>
            </a:r>
            <a:r>
              <a:rPr sz="1050" b="0">
                <a:solidFill>
                  <a:srgbClr val="222B38"/>
                </a:solidFill>
                <a:latin typeface="Calibri"/>
              </a:rPr>
              <a:t>Never inspects forwarded payload; headers + timing; IPv4 + IPv6</a:t>
            </a:r>
          </a:p>
          <a:p>
            <a:pPr algn="l">
              <a:spcAft>
                <a:spcPts val="150"/>
              </a:spcAft>
            </a:pPr>
            <a:r>
              <a:rPr sz="1050" b="1">
                <a:solidFill>
                  <a:srgbClr val="0B5CAD"/>
                </a:solidFill>
                <a:latin typeface="Calibri"/>
              </a:rPr>
              <a:t>• </a:t>
            </a:r>
            <a:r>
              <a:rPr sz="1050" b="1">
                <a:solidFill>
                  <a:srgbClr val="222B38"/>
                </a:solidFill>
                <a:latin typeface="Calibri"/>
              </a:rPr>
              <a:t>Intents = expiring leases with real HTB guaranteed rates from a budget; progress measured</a:t>
            </a:r>
          </a:p>
          <a:p>
            <a:pPr algn="l">
              <a:spcAft>
                <a:spcPts val="150"/>
              </a:spcAft>
            </a:pPr>
            <a:r>
              <a:rPr sz="1050" b="1">
                <a:solidFill>
                  <a:srgbClr val="0B5CAD"/>
                </a:solidFill>
                <a:latin typeface="Calibri"/>
              </a:rPr>
              <a:t>• </a:t>
            </a:r>
            <a:r>
              <a:rPr sz="1050" b="0">
                <a:solidFill>
                  <a:srgbClr val="222B38"/>
                </a:solidFill>
                <a:latin typeface="Calibri"/>
              </a:rPr>
              <a:t>Abstains when unsure: never promotes an uncertain flow</a:t>
            </a:r>
          </a:p>
          <a:p>
            <a:pPr algn="l">
              <a:spcAft>
                <a:spcPts val="150"/>
              </a:spcAft>
            </a:pPr>
            <a:r>
              <a:rPr sz="1050" b="1">
                <a:solidFill>
                  <a:srgbClr val="0B5CAD"/>
                </a:solidFill>
                <a:latin typeface="Calibri"/>
              </a:rPr>
              <a:t>• </a:t>
            </a:r>
            <a:r>
              <a:rPr sz="1050" b="0">
                <a:solidFill>
                  <a:srgbClr val="222B38"/>
                </a:solidFill>
                <a:latin typeface="Calibri"/>
              </a:rPr>
              <a:t>Shadow mode first; every decision logged; watchdog → SAFE shaper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2523744"/>
            <a:ext cx="8229600" cy="25603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>
              <a:spcAft>
                <a:spcPts val="150"/>
              </a:spcAft>
            </a:pPr>
            <a:r>
              <a:rPr sz="1150" b="1">
                <a:solidFill>
                  <a:srgbClr val="12233D"/>
                </a:solidFill>
                <a:latin typeface="Calibri"/>
              </a:rPr>
              <a:t>Three speeds: fast guardrails (sub-second) · outcome receipts (tens of seconds) · controlled experiments (lab, for claims)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4320" y="2816351"/>
            <a:ext cx="1700784" cy="1188720"/>
          </a:xfrm>
          <a:prstGeom prst="roundRect">
            <a:avLst>
              <a:gd name="adj" fmla="val 6000"/>
            </a:avLst>
          </a:prstGeom>
          <a:solidFill>
            <a:srgbClr val="0B5C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ctr">
              <a:spcAft>
                <a:spcPts val="15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Observe</a:t>
            </a:r>
          </a:p>
          <a:p>
            <a:pPr algn="ctr">
              <a:spcAft>
                <a:spcPts val="15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Header + timing of first packets per flow, app marks (NQB / L4S); v4/v6; no payload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1984248" y="3273551"/>
            <a:ext cx="173736" cy="274320"/>
          </a:xfrm>
          <a:prstGeom prst="rightArrow">
            <a:avLst/>
          </a:prstGeom>
          <a:solidFill>
            <a:srgbClr val="E6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176272" y="2816351"/>
            <a:ext cx="1938528" cy="1188720"/>
          </a:xfrm>
          <a:prstGeom prst="roundRect">
            <a:avLst>
              <a:gd name="adj" fmla="val 6000"/>
            </a:avLst>
          </a:prstGeom>
          <a:solidFill>
            <a:srgbClr val="0B5C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ctr">
              <a:spcAft>
                <a:spcPts val="15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Understand</a:t>
            </a:r>
          </a:p>
          <a:p>
            <a:pPr algn="ctr">
              <a:spcAft>
                <a:spcPts val="15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Marks first, then a calibrated classifier (abstains) · capacity μ ± σ + UDPST idle test (RFC 9946) · fault localiser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123944" y="3273551"/>
            <a:ext cx="173736" cy="274320"/>
          </a:xfrm>
          <a:prstGeom prst="rightArrow">
            <a:avLst/>
          </a:prstGeom>
          <a:solidFill>
            <a:srgbClr val="E6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315968" y="2816351"/>
            <a:ext cx="1865376" cy="1188720"/>
          </a:xfrm>
          <a:prstGeom prst="roundRect">
            <a:avLst>
              <a:gd name="adj" fmla="val 6000"/>
            </a:avLst>
          </a:prstGeom>
          <a:solidFill>
            <a:srgbClr val="0B5C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ctr">
              <a:spcAft>
                <a:spcPts val="15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Decide</a:t>
            </a:r>
          </a:p>
          <a:p>
            <a:pPr algn="ctr">
              <a:spcAft>
                <a:spcPts val="15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Bounded guardrails: shaper = μ − kσ, change-point fast path · leases within budget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6190488" y="3273551"/>
            <a:ext cx="173736" cy="274320"/>
          </a:xfrm>
          <a:prstGeom prst="rightArrow">
            <a:avLst/>
          </a:prstGeom>
          <a:solidFill>
            <a:srgbClr val="E6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382512" y="2816351"/>
            <a:ext cx="1700784" cy="1188720"/>
          </a:xfrm>
          <a:prstGeom prst="roundRect">
            <a:avLst>
              <a:gd name="adj" fmla="val 6000"/>
            </a:avLst>
          </a:prstGeom>
          <a:solidFill>
            <a:srgbClr val="0B5C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ctr">
              <a:spcAft>
                <a:spcPts val="15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Enforce</a:t>
            </a:r>
          </a:p>
          <a:p>
            <a:pPr algn="ctr">
              <a:spcAft>
                <a:spcPts val="15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CAKE (default) or HTB guaranteed mode; ordered, versioned, read-back apply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092440" y="3273551"/>
            <a:ext cx="173736" cy="274320"/>
          </a:xfrm>
          <a:prstGeom prst="rightArrow">
            <a:avLst/>
          </a:prstGeom>
          <a:solidFill>
            <a:srgbClr val="E6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284464" y="2816351"/>
            <a:ext cx="1865376" cy="1188720"/>
          </a:xfrm>
          <a:prstGeom prst="roundRect">
            <a:avLst>
              <a:gd name="adj" fmla="val 6000"/>
            </a:avLst>
          </a:prstGeom>
          <a:solidFill>
            <a:srgbClr val="12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ctr">
              <a:spcAft>
                <a:spcPts val="15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Assess</a:t>
            </a:r>
          </a:p>
          <a:p>
            <a:pPr algn="ctr">
              <a:spcAft>
                <a:spcPts val="15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Receipts on WebRTC freezes, DASH rebuffers, delay, progress; estimated MOS labelled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0158984" y="3273551"/>
            <a:ext cx="173736" cy="274320"/>
          </a:xfrm>
          <a:prstGeom prst="rightArrow">
            <a:avLst/>
          </a:prstGeom>
          <a:solidFill>
            <a:srgbClr val="E6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351008" y="2816351"/>
            <a:ext cx="1563624" cy="1188720"/>
          </a:xfrm>
          <a:prstGeom prst="roundRect">
            <a:avLst>
              <a:gd name="adj" fmla="val 6000"/>
            </a:avLst>
          </a:prstGeom>
          <a:solidFill>
            <a:srgbClr val="0B5C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ctr">
              <a:spcAft>
                <a:spcPts val="15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Show</a:t>
            </a:r>
          </a:p>
          <a:p>
            <a:pPr algn="ctr">
              <a:spcAft>
                <a:spcPts val="15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Grafana · 3D twin + replay: measured / estimated / illustrative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74320" y="4133087"/>
            <a:ext cx="5989320" cy="1993392"/>
          </a:xfrm>
          <a:prstGeom prst="roundRect">
            <a:avLst>
              <a:gd name="adj" fmla="val 6000"/>
            </a:avLst>
          </a:prstGeom>
          <a:solidFill>
            <a:srgbClr val="EE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150"/>
              </a:spcAft>
            </a:pPr>
            <a:r>
              <a:rPr sz="1250" b="1">
                <a:solidFill>
                  <a:srgbClr val="0B5CAD"/>
                </a:solidFill>
                <a:latin typeface="Calibri"/>
              </a:rPr>
              <a:t>What makes it different</a:t>
            </a:r>
          </a:p>
          <a:p>
            <a:pPr algn="l">
              <a:spcAft>
                <a:spcPts val="150"/>
              </a:spcAft>
            </a:pPr>
            <a:r>
              <a:rPr sz="1050" b="1">
                <a:solidFill>
                  <a:srgbClr val="12233D"/>
                </a:solidFill>
                <a:latin typeface="Calibri"/>
              </a:rPr>
              <a:t>1  Fault localisation before action: </a:t>
            </a:r>
            <a:r>
              <a:rPr sz="1050" b="0">
                <a:solidFill>
                  <a:srgbClr val="222B38"/>
                </a:solidFill>
                <a:latin typeface="Calibri"/>
              </a:rPr>
              <a:t>WAN drop vs remote path vs Wi-Fi vs lying probe, scored against emulator ground truth; a remote slowdown never triggers a wasteful cut</a:t>
            </a:r>
          </a:p>
          <a:p>
            <a:pPr algn="l">
              <a:spcAft>
                <a:spcPts val="150"/>
              </a:spcAft>
            </a:pPr>
            <a:r>
              <a:rPr sz="1050" b="1">
                <a:solidFill>
                  <a:srgbClr val="12233D"/>
                </a:solidFill>
                <a:latin typeface="Calibri"/>
              </a:rPr>
              <a:t>2  Real-app evidence: </a:t>
            </a:r>
            <a:r>
              <a:rPr sz="1050" b="0">
                <a:solidFill>
                  <a:srgbClr val="222B38"/>
                </a:solidFill>
                <a:latin typeface="Calibri"/>
              </a:rPr>
              <a:t>real encrypted WebRTC calls and DASH players in headless Chromium; we count video freezes and rebuffers, not just pings</a:t>
            </a:r>
          </a:p>
          <a:p>
            <a:pPr algn="l">
              <a:spcAft>
                <a:spcPts val="150"/>
              </a:spcAft>
            </a:pPr>
            <a:r>
              <a:rPr sz="1050" b="1">
                <a:solidFill>
                  <a:srgbClr val="12233D"/>
                </a:solidFill>
                <a:latin typeface="Calibri"/>
              </a:rPr>
              <a:t>3  Payload-free, calibrated classification: </a:t>
            </a:r>
            <a:r>
              <a:rPr sz="1050" b="0">
                <a:solidFill>
                  <a:srgbClr val="222B38"/>
                </a:solidFill>
                <a:latin typeface="Calibri"/>
              </a:rPr>
              <a:t>marks first; split by flow and by time, no shortcut features (SIGCOMM 2025 lesson); abstains when unsure</a:t>
            </a:r>
          </a:p>
          <a:p>
            <a:pPr algn="l">
              <a:spcAft>
                <a:spcPts val="150"/>
              </a:spcAft>
            </a:pPr>
            <a:r>
              <a:rPr sz="1050" b="1">
                <a:solidFill>
                  <a:srgbClr val="12233D"/>
                </a:solidFill>
                <a:latin typeface="Calibri"/>
              </a:rPr>
              <a:t>4  Honest receipts + replay: </a:t>
            </a:r>
            <a:r>
              <a:rPr sz="1050" b="0">
                <a:solidFill>
                  <a:srgbClr val="222B38"/>
                </a:solidFill>
                <a:latin typeface="Calibri"/>
              </a:rPr>
              <a:t>improved / degraded / inconclusive, plus IETF Quality-of-Outcome scores; 3D replay shows inferred vs true ISP queue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82512" y="4133087"/>
            <a:ext cx="5532120" cy="1993392"/>
          </a:xfrm>
          <a:prstGeom prst="roundRect">
            <a:avLst>
              <a:gd name="adj" fmla="val 6000"/>
            </a:avLst>
          </a:prstGeom>
          <a:solidFill>
            <a:srgbClr val="EC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150"/>
              </a:spcAft>
            </a:pPr>
            <a:r>
              <a:rPr sz="1250" b="1">
                <a:solidFill>
                  <a:srgbClr val="1E8E5A"/>
                </a:solidFill>
                <a:latin typeface="Calibri"/>
              </a:rPr>
              <a:t>How we will prove it</a:t>
            </a:r>
          </a:p>
          <a:p>
            <a:pPr algn="l">
              <a:spcAft>
                <a:spcPts val="150"/>
              </a:spcAft>
            </a:pPr>
            <a:r>
              <a:rPr sz="1050" b="1">
                <a:solidFill>
                  <a:srgbClr val="1E8E5A"/>
                </a:solidFill>
                <a:latin typeface="Calibri"/>
              </a:rPr>
              <a:t>• </a:t>
            </a:r>
            <a:r>
              <a:rPr sz="1050" b="0">
                <a:solidFill>
                  <a:srgbClr val="222B38"/>
                </a:solidFill>
                <a:latin typeface="Calibri"/>
              </a:rPr>
              <a:t>Real, tuned baselines: FIFO · fq_codel · SQM-CAKE · cake-autorate · qosify-style rules + ablations; ≥10 randomised runs, 95% CIs</a:t>
            </a:r>
          </a:p>
          <a:p>
            <a:pPr algn="l">
              <a:spcAft>
                <a:spcPts val="150"/>
              </a:spcAft>
            </a:pPr>
            <a:r>
              <a:rPr sz="1050" b="1">
                <a:solidFill>
                  <a:srgbClr val="1E8E5A"/>
                </a:solidFill>
                <a:latin typeface="Calibri"/>
              </a:rPr>
              <a:t>• </a:t>
            </a:r>
            <a:r>
              <a:rPr sz="1050" b="0">
                <a:solidFill>
                  <a:srgbClr val="222B38"/>
                </a:solidFill>
                <a:latin typeface="Calibri"/>
              </a:rPr>
              <a:t>13 scenarios: ISO during call, 100 → 20 Mbps drop, 3 TVs + gaming, remote delay, Wi-Fi, false marks, crash, IPv6…</a:t>
            </a:r>
          </a:p>
          <a:p>
            <a:pPr algn="l">
              <a:spcAft>
                <a:spcPts val="150"/>
              </a:spcAft>
            </a:pPr>
            <a:r>
              <a:rPr sz="1050" b="1">
                <a:solidFill>
                  <a:srgbClr val="1E8E5A"/>
                </a:solidFill>
                <a:latin typeface="Calibri"/>
              </a:rPr>
              <a:t>• </a:t>
            </a:r>
            <a:r>
              <a:rPr sz="1050" b="0">
                <a:solidFill>
                  <a:srgbClr val="222B38"/>
                </a:solidFill>
                <a:latin typeface="Calibri"/>
              </a:rPr>
              <a:t>Physical Pi 5 kit: the judge picks the fault, VeriQ responds from telemetry alone</a:t>
            </a:r>
          </a:p>
          <a:p>
            <a:pPr algn="l">
              <a:spcAft>
                <a:spcPts val="150"/>
              </a:spcAft>
            </a:pPr>
            <a:r>
              <a:rPr sz="1050" b="1">
                <a:solidFill>
                  <a:srgbClr val="1E8E5A"/>
                </a:solidFill>
                <a:latin typeface="Calibri"/>
              </a:rPr>
              <a:t>Targets: </a:t>
            </a:r>
            <a:r>
              <a:rPr sz="1050" b="1">
                <a:solidFill>
                  <a:srgbClr val="222B38"/>
                </a:solidFill>
                <a:latin typeface="Calibri"/>
              </a:rPr>
              <a:t>0 call freezes in S1 · added delay p95 ≤ 10 ms · settle &lt; 2 s after WAN drop · measured progress for every class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74320" y="6217920"/>
            <a:ext cx="11640312" cy="53035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150"/>
              </a:spcAft>
            </a:pPr>
            <a:r>
              <a:rPr sz="950" b="1">
                <a:solidFill>
                  <a:srgbClr val="12233D"/>
                </a:solidFill>
                <a:latin typeface="Calibri"/>
              </a:rPr>
              <a:t>Stack: </a:t>
            </a:r>
            <a:r>
              <a:rPr sz="950" b="0">
                <a:solidFill>
                  <a:srgbClr val="222B38"/>
                </a:solidFill>
                <a:latin typeface="Calibri"/>
              </a:rPr>
              <a:t>Linux tc (CAKE · HTB · fq_codel) · Python + pyroute2 control plane · LightGBM + conformal · Prometheus/Grafana · React + three.js · Playwright (WebRTC, dash.js) · iperf3 / irtt / Flent</a:t>
            </a:r>
          </a:p>
          <a:p>
            <a:pPr algn="l">
              <a:spcAft>
                <a:spcPts val="150"/>
              </a:spcAft>
            </a:pPr>
            <a:r>
              <a:rPr sz="950" b="1">
                <a:solidFill>
                  <a:srgbClr val="12233D"/>
                </a:solidFill>
                <a:latin typeface="Calibri"/>
              </a:rPr>
              <a:t>Industry path (designed, not built): </a:t>
            </a:r>
            <a:r>
              <a:rPr sz="950" b="0">
                <a:solidFill>
                  <a:srgbClr val="222B38"/>
                </a:solidFill>
                <a:latin typeface="Calibri"/>
              </a:rPr>
              <a:t>RDK-B / OpenWrt package · TR-181 + TR-369 USP fleet management · research tracks: eBPF datapath, Wi-Fi airtime, L4S, multi-gig scaling</a:t>
            </a:r>
          </a:p>
        </p:txBody>
      </p:sp>
    </p:spTree>
    <p:extLst>
      <p:ext uri="{BB962C8B-B14F-4D97-AF65-F5344CB8AC3E}">
        <p14:creationId xmlns:p14="http://schemas.microsoft.com/office/powerpoint/2010/main" val="707644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6</Words>
  <Application>Microsoft Office PowerPoint</Application>
  <PresentationFormat>Widescreen</PresentationFormat>
  <Paragraphs>2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Arial</vt:lpstr>
      <vt:lpstr>Calibri</vt:lpstr>
      <vt:lpstr>Calibri Light</vt:lpstr>
      <vt:lpstr>Office Theme</vt:lpstr>
      <vt:lpstr>Custom Design</vt:lpstr>
      <vt:lpstr>Team Details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Aaquib Jawaid</dc:creator>
  <cp:lastModifiedBy>Fatima Ameer</cp:lastModifiedBy>
  <cp:revision>7</cp:revision>
  <dcterms:created xsi:type="dcterms:W3CDTF">2024-10-25T17:59:13Z</dcterms:created>
  <dcterms:modified xsi:type="dcterms:W3CDTF">2026-09-23T11:32:25Z</dcterms:modified>
</cp:coreProperties>
</file>