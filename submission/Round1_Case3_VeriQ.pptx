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3581400" y="1917655"/>
            <a:ext cx="5029200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3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&lt;Team Name&gt;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pPr algn="ctr"/>
            <a:r>
              <a:rPr sz="1800">
                <a:solidFill>
                  <a:srgbClr val="12233D"/>
                </a:solidFill>
              </a:rPr>
              <a:t>&lt;College&gt;</a:t>
            </a:r>
          </a:p>
          <a:p>
            <a:pPr algn="ctr"/>
            <a:r>
              <a:rPr sz="1800">
                <a:solidFill>
                  <a:srgbClr val="12233D"/>
                </a:solidFill>
              </a:rPr>
              <a:t>&lt;Member 1&gt; · &lt;Member 2&gt; · &lt;Member 3&gt;</a:t>
            </a:r>
          </a:p>
          <a:p>
            <a:pPr algn="ctr"/>
            <a:r>
              <a:rPr sz="1800">
                <a:solidFill>
                  <a:srgbClr val="12233D"/>
                </a:solidFill>
              </a:rPr>
              <a:t>VeriQ: Experience-Verified, Intent-Aware QoS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95728" y="91440"/>
            <a:ext cx="8732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spcAft>
                <a:spcPts val="150"/>
              </a:spcAft>
            </a:pPr>
            <a:r>
              <a:rPr sz="2200" b="1">
                <a:solidFill>
                  <a:srgbClr val="0B5CAD"/>
                </a:solidFill>
                <a:latin typeface="Calibri"/>
              </a:rPr>
              <a:t>VeriQ</a:t>
            </a:r>
            <a:r>
              <a:rPr sz="1700" b="1">
                <a:solidFill>
                  <a:srgbClr val="12233D"/>
                </a:solidFill>
                <a:latin typeface="Calibri"/>
              </a:rPr>
              <a:t>: Experience-Verified, Intent-Aware QoS for the mixed-traffic home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556070"/>
                </a:solidFill>
                <a:latin typeface="Calibri"/>
              </a:rPr>
              <a:t>Case Study 3 · MCV · Adaptive QoS Engine for Mixed Home Broadband Traffic   |   Team </a:t>
            </a:r>
            <a:r>
              <a:rPr sz="1050" b="1">
                <a:solidFill>
                  <a:srgbClr val="556070"/>
                </a:solidFill>
                <a:latin typeface="Calibri"/>
              </a:rPr>
              <a:t>&lt;Team Name&gt;</a:t>
            </a:r>
            <a:r>
              <a:rPr sz="1050" b="0">
                <a:solidFill>
                  <a:srgbClr val="556070"/>
                </a:solidFill>
                <a:latin typeface="Calibri"/>
              </a:rPr>
              <a:t> · &lt;College&gt;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96112"/>
            <a:ext cx="3794760" cy="148132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The real problem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Queues, not bandwidth: a backup upload filled the modem's oversized FIFO and added 266 ms (p95) to every packet in our Day-0 lab (emulated, 5 Mbit up)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QUIC/TLS on port 443 defeats port rules; apps rarely set DSCP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Capacity moves (DOCSIS, 5G FWA, Wi-Fi): a static shaper is bloated or wasteful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896112"/>
            <a:ext cx="3794760" cy="1481328"/>
          </a:xfrm>
          <a:prstGeom prst="roundRect">
            <a:avLst>
              <a:gd name="adj" fmla="val 6000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E68A00"/>
                </a:solidFill>
                <a:latin typeface="Calibri"/>
              </a:rPr>
              <a:t>Our idea</a:t>
            </a:r>
          </a:p>
          <a:p>
            <a:pPr algn="l">
              <a:spcAft>
                <a:spcPts val="150"/>
              </a:spcAft>
            </a:pPr>
            <a:r>
              <a:rPr sz="1150" b="1">
                <a:solidFill>
                  <a:srgbClr val="12233D"/>
                </a:solidFill>
                <a:latin typeface="Calibri"/>
              </a:rPr>
              <a:t>“Other QoS engines guess. VeriQ verifies.”</a:t>
            </a:r>
          </a:p>
          <a:p>
            <a:pPr algn="l">
              <a:spcAft>
                <a:spcPts val="150"/>
              </a:spcAft>
            </a:pPr>
            <a:r>
              <a:rPr sz="1050" b="0">
                <a:solidFill>
                  <a:srgbClr val="222B38"/>
                </a:solidFill>
                <a:latin typeface="Calibri"/>
              </a:rPr>
              <a:t>Every policy change is a hypothesis: applied as a </a:t>
            </a:r>
            <a:r>
              <a:rPr sz="1050" b="1">
                <a:solidFill>
                  <a:srgbClr val="222B38"/>
                </a:solidFill>
                <a:latin typeface="Calibri"/>
              </a:rPr>
              <a:t>canary</a:t>
            </a:r>
            <a:r>
              <a:rPr sz="1050" b="0">
                <a:solidFill>
                  <a:srgbClr val="222B38"/>
                </a:solidFill>
                <a:latin typeface="Calibri"/>
              </a:rPr>
              <a:t>, tested on real experience metrics, kept only if it measurably helps, otherwise </a:t>
            </a:r>
            <a:r>
              <a:rPr sz="1050" b="1">
                <a:solidFill>
                  <a:srgbClr val="222B38"/>
                </a:solidFill>
                <a:latin typeface="Calibri"/>
              </a:rPr>
              <a:t>rolled back automatically</a:t>
            </a:r>
            <a:r>
              <a:rPr sz="1050" b="0">
                <a:solidFill>
                  <a:srgbClr val="222B38"/>
                </a:solidFill>
                <a:latin typeface="Calibri"/>
              </a:rPr>
              <a:t>, with an experience receipt.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896112"/>
            <a:ext cx="3813048" cy="1481328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Safety by design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Never reads payload: headers + timing only; IPv4 + IPv6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1">
                <a:solidFill>
                  <a:srgbClr val="222B38"/>
                </a:solidFill>
                <a:latin typeface="Calibri"/>
              </a:rPr>
              <a:t>Every class keeps a non-zero floor: no starvation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Abstains when unsure (conformal confidence)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Versioned, reversible policies; watchdog → known-safe profile in &lt; 1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82296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150"/>
              </a:spcAft>
            </a:pPr>
            <a:r>
              <a:rPr sz="1150" b="1">
                <a:solidFill>
                  <a:srgbClr val="12233D"/>
                </a:solidFill>
                <a:latin typeface="Calibri"/>
              </a:rPr>
              <a:t>Closed loop: observe → understand → decide → enforce → verify → commit or roll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16351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Observe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eBPF flow observer on tc clsact: sizes, timing, direction of first 30 packets; v4/v6; no payload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984248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76272" y="2816351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Early classifier with calibrated conformal confidence + capacity estimator (one-way-delay / STAMP probes, change-point)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23944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2816351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Decide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Control loop on queuing delay · shaper = μ − kσ · intents with TTL · fairness floors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90488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2816351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Enforce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CAKE / HTB via netlink: transactional apply, readback, rollback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92440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4464" y="2816351"/>
            <a:ext cx="1865376" cy="1188720"/>
          </a:xfrm>
          <a:prstGeom prst="roundRect">
            <a:avLst>
              <a:gd name="adj" fmla="val 6000"/>
            </a:avLst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Verify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Canary statistics on E-model MOS, WebRTC freezes, IETF RPM, Jain fairness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158984" y="3273551"/>
            <a:ext cx="173736" cy="274320"/>
          </a:xfrm>
          <a:prstGeom prst="rightArrow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51008" y="2816351"/>
            <a:ext cx="1563624" cy="1188720"/>
          </a:xfrm>
          <a:prstGeom prst="roundRect">
            <a:avLst>
              <a:gd name="adj" fmla="val 6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ctr">
              <a:spcAft>
                <a:spcPts val="15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Show &amp; control</a:t>
            </a:r>
          </a:p>
          <a:p>
            <a:pPr algn="ctr">
              <a:spcAft>
                <a:spcPts val="15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Grafana · live 3D home-network twin · intent API (REST, TR-181 / USP)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133087"/>
            <a:ext cx="5989320" cy="1993392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0B5CAD"/>
                </a:solidFill>
                <a:latin typeface="Calibri"/>
              </a:rPr>
              <a:t>What makes it different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1  Experience-verified policy transactions: </a:t>
            </a:r>
            <a:r>
              <a:rPr sz="1050" b="0">
                <a:solidFill>
                  <a:srgbClr val="222B38"/>
                </a:solidFill>
                <a:latin typeface="Calibri"/>
              </a:rPr>
              <a:t>canary → bootstrap CI / Mann-Whitney on p95 delay and MOS → commit or auto-rollback, each with a receipt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2  Real-app evidence: </a:t>
            </a:r>
            <a:r>
              <a:rPr sz="1050" b="0">
                <a:solidFill>
                  <a:srgbClr val="222B38"/>
                </a:solidFill>
                <a:latin typeface="Calibri"/>
              </a:rPr>
              <a:t>real encrypted WebRTC calls and DASH players in headless Chromium; we count video freezes and rebuffers, not just pings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3  Payload-free, calibrated classification: </a:t>
            </a:r>
            <a:r>
              <a:rPr sz="1050" b="0">
                <a:solidFill>
                  <a:srgbClr val="222B38"/>
                </a:solidFill>
                <a:latin typeface="Calibri"/>
              </a:rPr>
              <a:t>conformal sets → abstain when unsure; one-click correction feeds retraining; accuracy reported per privacy tier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2233D"/>
                </a:solidFill>
                <a:latin typeface="Calibri"/>
              </a:rPr>
              <a:t>4  Uncertainty-aware capacity tracking: </a:t>
            </a:r>
            <a:r>
              <a:rPr sz="1050" b="0">
                <a:solidFill>
                  <a:srgbClr val="222B38"/>
                </a:solidFill>
                <a:latin typeface="Calibri"/>
              </a:rPr>
              <a:t>Bayesian change-point + delay probes, up and down separately, link-layer overhead compensated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4133087"/>
            <a:ext cx="5532120" cy="1993392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5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How we will prove it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One-command netns lab, 5 arms: FIFO · fq_codel · static CAKE (SQM) · cake-autorate-style · VeriQ; ≥10 runs, 95% CIs, auto PDF report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8 scenarios: ISO during a call, 100 → 20 Mbps drop, 3 TVs + gaming, backup upload, chaos kill, IPv6…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• </a:t>
            </a:r>
            <a:r>
              <a:rPr sz="1050" b="0">
                <a:solidFill>
                  <a:srgbClr val="222B38"/>
                </a:solidFill>
                <a:latin typeface="Calibri"/>
              </a:rPr>
              <a:t>Live physical kit: Raspberry Pi 5 router + red “WAN DROP” button + chaos button</a:t>
            </a:r>
          </a:p>
          <a:p>
            <a:pPr algn="l">
              <a:spcAft>
                <a:spcPts val="150"/>
              </a:spcAft>
            </a:pPr>
            <a:r>
              <a:rPr sz="1050" b="1">
                <a:solidFill>
                  <a:srgbClr val="1E8E5A"/>
                </a:solidFill>
                <a:latin typeface="Calibri"/>
              </a:rPr>
              <a:t>Targets: </a:t>
            </a:r>
            <a:r>
              <a:rPr sz="1050" b="1">
                <a:solidFill>
                  <a:srgbClr val="222B38"/>
                </a:solidFill>
                <a:latin typeface="Calibri"/>
              </a:rPr>
              <a:t>real-time added delay p95 ≤ 10 ms · settle &lt; 2 s after WAN drop · zero starvation · CPU measured on ARM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6217920"/>
            <a:ext cx="11640312" cy="53035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150"/>
              </a:spcAft>
            </a:pPr>
            <a:r>
              <a:rPr sz="950" b="1">
                <a:solidFill>
                  <a:srgbClr val="12233D"/>
                </a:solidFill>
                <a:latin typeface="Calibri"/>
              </a:rPr>
              <a:t>Stack: </a:t>
            </a:r>
            <a:r>
              <a:rPr sz="950" b="0">
                <a:solidFill>
                  <a:srgbClr val="222B38"/>
                </a:solidFill>
                <a:latin typeface="Calibri"/>
              </a:rPr>
              <a:t>Linux tc (CAKE · HTB · fq_codel; DualPI2/L4S-ready) · eBPF (libbpf CO-RE) · Python/Go control plane · LightGBM + conformal · Prometheus/Grafana · React + three.js · Flent / irtt / iperf3 / Playwright</a:t>
            </a:r>
          </a:p>
          <a:p>
            <a:pPr algn="l">
              <a:spcAft>
                <a:spcPts val="150"/>
              </a:spcAft>
            </a:pPr>
            <a:r>
              <a:rPr sz="950" b="1">
                <a:solidFill>
                  <a:srgbClr val="12233D"/>
                </a:solidFill>
                <a:latin typeface="Calibri"/>
              </a:rPr>
              <a:t>Industry path: </a:t>
            </a:r>
            <a:r>
              <a:rPr sz="950" b="0">
                <a:solidFill>
                  <a:srgbClr val="222B38"/>
                </a:solidFill>
                <a:latin typeface="Calibri"/>
              </a:rPr>
              <a:t>RDK-B / OpenWrt package · TR-181 data model + TR-369 USP for fleet control · EDT + eBPF + sch_fq for multi-gig PON · closed-loop home edge for intent-based network ops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